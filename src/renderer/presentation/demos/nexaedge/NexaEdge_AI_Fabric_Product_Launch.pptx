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ContentType="application/vnd.openxmlformats-officedocument.presentationml.slide+xml" PartName="/ppt/slides/slide7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Layout+xml" PartName="/ppt/slideLayouts/slideLayout1.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saveSubsetFonts="1" autoCompressPictures="0">
  <p:sldMasterIdLst>
    <p:sldMasterId id="2147483648" r:id="rId13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theme" Target="theme/theme1.xml"/><Relationship Id="rId10" Type="http://schemas.openxmlformats.org/officeDocument/2006/relationships/slide" Target="slides/slide6.xml"/><Relationship Id="rId7" Type="http://schemas.openxmlformats.org/officeDocument/2006/relationships/slide" Target="slides/slide3.xml"/><Relationship Id="rId3" Type="http://schemas.openxmlformats.org/officeDocument/2006/relationships/tableStyles" Target="tableStyles.xml"/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5" Type="http://schemas.openxmlformats.org/officeDocument/2006/relationships/slide" Target="slides/slide1.xml"/><Relationship Id="rId9" Type="http://schemas.openxmlformats.org/officeDocument/2006/relationships/slide" Target="slides/slide5.xml"/><Relationship Id="rId13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6" Type="http://schemas.openxmlformats.org/officeDocument/2006/relationships/slide" Target="slides/slide2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8184981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3007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1463040" y="1757274"/>
            <a:ext cx="9265920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1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accent-1-2"/>
          <p:cNvSpPr/>
          <p:nvPr/>
        </p:nvSpPr>
        <p:spPr>
          <a:xfrm>
            <a:off x="5715000" y="2011274"/>
            <a:ext cx="762000" cy="635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4" name="title-3"/>
          <p:cNvSpPr txBox="1"/>
          <p:nvPr/>
        </p:nvSpPr>
        <p:spPr>
          <a:xfrm>
            <a:off x="1463040" y="2189074"/>
            <a:ext cx="9265920" cy="1066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6000" b="1">
                <a:solidFill>
                  <a:srgbClr val="020617"/>
                </a:solidFill>
                <a:latin typeface="Aptos"/>
              </a:rPr>
              <a:t>NexaEdge AI Fabric</a:t>
            </a:r>
          </a:p>
        </p:txBody>
      </p:sp>
      <p:sp>
        <p:nvSpPr>
          <p:cNvPr id="5" name="subtitle-4"/>
          <p:cNvSpPr txBox="1"/>
          <p:nvPr/>
        </p:nvSpPr>
        <p:spPr>
          <a:xfrm>
            <a:off x="1463040" y="3509874"/>
            <a:ext cx="9265920" cy="782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2200" b="0">
                <a:solidFill>
                  <a:srgbClr val="0F172A"/>
                </a:solidFill>
                <a:latin typeface="Aptos"/>
              </a:rPr>
              <a:t>Enterprise teams can move from fragmented data to real-time decisions with one deployable intelligence layer</a:t>
            </a:r>
          </a:p>
        </p:txBody>
      </p:sp>
      <p:sp>
        <p:nvSpPr>
          <p:cNvPr id="6" name="accent-1-5"/>
          <p:cNvSpPr/>
          <p:nvPr/>
        </p:nvSpPr>
        <p:spPr>
          <a:xfrm>
            <a:off x="1676400" y="4596994"/>
            <a:ext cx="76200" cy="762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</p:sp>
      <p:sp>
        <p:nvSpPr>
          <p:cNvPr id="7" name="label-6"/>
          <p:cNvSpPr txBox="1"/>
          <p:nvPr/>
        </p:nvSpPr>
        <p:spPr>
          <a:xfrm>
            <a:off x="1828800" y="4533494"/>
            <a:ext cx="264160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0">
                <a:solidFill>
                  <a:srgbClr val="0F172A"/>
                </a:solidFill>
                <a:latin typeface="Aptos"/>
              </a:rPr>
              <a:t>Launch theme</a:t>
            </a:r>
          </a:p>
        </p:txBody>
      </p:sp>
      <p:sp>
        <p:nvSpPr>
          <p:cNvPr id="8" name="accent-1-7"/>
          <p:cNvSpPr/>
          <p:nvPr/>
        </p:nvSpPr>
        <p:spPr>
          <a:xfrm>
            <a:off x="4699000" y="4596994"/>
            <a:ext cx="76200" cy="762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</p:sp>
      <p:sp>
        <p:nvSpPr>
          <p:cNvPr id="9" name="label-8"/>
          <p:cNvSpPr txBox="1"/>
          <p:nvPr/>
        </p:nvSpPr>
        <p:spPr>
          <a:xfrm>
            <a:off x="4851400" y="4533494"/>
            <a:ext cx="264160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0">
                <a:solidFill>
                  <a:srgbClr val="0F172A"/>
                </a:solidFill>
                <a:latin typeface="Aptos"/>
              </a:rPr>
              <a:t>Primary promise</a:t>
            </a:r>
          </a:p>
        </p:txBody>
      </p:sp>
      <p:sp>
        <p:nvSpPr>
          <p:cNvPr id="10" name="accent-1-9"/>
          <p:cNvSpPr/>
          <p:nvPr/>
        </p:nvSpPr>
        <p:spPr>
          <a:xfrm>
            <a:off x="7721600" y="4596994"/>
            <a:ext cx="76200" cy="762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</p:sp>
      <p:sp>
        <p:nvSpPr>
          <p:cNvPr id="11" name="label-10"/>
          <p:cNvSpPr txBox="1"/>
          <p:nvPr/>
        </p:nvSpPr>
        <p:spPr>
          <a:xfrm>
            <a:off x="7874000" y="4533494"/>
            <a:ext cx="264160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0">
                <a:solidFill>
                  <a:srgbClr val="0F172A"/>
                </a:solidFill>
                <a:latin typeface="Aptos"/>
              </a:rPr>
              <a:t>Target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1"/>
          <p:cNvSpPr txBox="1"/>
          <p:nvPr/>
        </p:nvSpPr>
        <p:spPr>
          <a:xfrm>
            <a:off x="815645" y="755472"/>
            <a:ext cx="10327843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12"/>
          <p:cNvSpPr txBox="1"/>
          <p:nvPr/>
        </p:nvSpPr>
        <p:spPr>
          <a:xfrm>
            <a:off x="815645" y="1034872"/>
            <a:ext cx="10327843" cy="7543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3600" b="1">
                <a:solidFill>
                  <a:srgbClr val="020617"/>
                </a:solidFill>
                <a:latin typeface="Aptos"/>
              </a:rPr>
              <a:t>From technical edge to business impact</a:t>
            </a:r>
          </a:p>
        </p:txBody>
      </p:sp>
      <p:sp>
        <p:nvSpPr>
          <p:cNvPr id="4" name="accent-2-13"/>
          <p:cNvSpPr/>
          <p:nvPr/>
        </p:nvSpPr>
        <p:spPr>
          <a:xfrm>
            <a:off x="815645" y="1916252"/>
            <a:ext cx="609600" cy="508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5" name="subtitle-14"/>
          <p:cNvSpPr txBox="1"/>
          <p:nvPr/>
        </p:nvSpPr>
        <p:spPr>
          <a:xfrm>
            <a:off x="815645" y="2094052"/>
            <a:ext cx="10327843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The launch story connects a differentiated architecture to measurable operational outcomes</a:t>
            </a:r>
          </a:p>
        </p:txBody>
      </p:sp>
      <p:sp>
        <p:nvSpPr>
          <p:cNvPr id="6" name="card-2-15"/>
          <p:cNvSpPr/>
          <p:nvPr/>
        </p:nvSpPr>
        <p:spPr>
          <a:xfrm>
            <a:off x="815645" y="2937332"/>
            <a:ext cx="3307148" cy="1378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7" name="body-16"/>
          <p:cNvSpPr txBox="1"/>
          <p:nvPr/>
        </p:nvSpPr>
        <p:spPr>
          <a:xfrm>
            <a:off x="942645" y="3064332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01 / Why now</a:t>
            </a:r>
          </a:p>
        </p:txBody>
      </p:sp>
      <p:sp>
        <p:nvSpPr>
          <p:cNvPr id="8" name="detail-17"/>
          <p:cNvSpPr txBox="1"/>
          <p:nvPr/>
        </p:nvSpPr>
        <p:spPr>
          <a:xfrm>
            <a:off x="942645" y="3389452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The operating environment is becoming too fast and distributed for batch analytics</a:t>
            </a:r>
          </a:p>
        </p:txBody>
      </p:sp>
      <p:sp>
        <p:nvSpPr>
          <p:cNvPr id="9" name="card-2-18"/>
          <p:cNvSpPr/>
          <p:nvPr/>
        </p:nvSpPr>
        <p:spPr>
          <a:xfrm>
            <a:off x="4325993" y="2937332"/>
            <a:ext cx="3307148" cy="1378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0" name="body-19"/>
          <p:cNvSpPr txBox="1"/>
          <p:nvPr/>
        </p:nvSpPr>
        <p:spPr>
          <a:xfrm>
            <a:off x="4452993" y="3064332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02 / Core innovation</a:t>
            </a:r>
          </a:p>
        </p:txBody>
      </p:sp>
      <p:sp>
        <p:nvSpPr>
          <p:cNvPr id="11" name="detail-20"/>
          <p:cNvSpPr txBox="1"/>
          <p:nvPr/>
        </p:nvSpPr>
        <p:spPr>
          <a:xfrm>
            <a:off x="4452993" y="3389452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A policy-aware AI fabric that runs close to the data and coordinates models across environments</a:t>
            </a:r>
          </a:p>
        </p:txBody>
      </p:sp>
      <p:sp>
        <p:nvSpPr>
          <p:cNvPr id="12" name="card-2-21"/>
          <p:cNvSpPr/>
          <p:nvPr/>
        </p:nvSpPr>
        <p:spPr>
          <a:xfrm>
            <a:off x="7836340" y="2937332"/>
            <a:ext cx="3307148" cy="1378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3" name="body-22"/>
          <p:cNvSpPr txBox="1"/>
          <p:nvPr/>
        </p:nvSpPr>
        <p:spPr>
          <a:xfrm>
            <a:off x="7963340" y="3064332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03 / Product capabilities</a:t>
            </a:r>
          </a:p>
        </p:txBody>
      </p:sp>
      <p:sp>
        <p:nvSpPr>
          <p:cNvPr id="14" name="detail-23"/>
          <p:cNvSpPr txBox="1"/>
          <p:nvPr/>
        </p:nvSpPr>
        <p:spPr>
          <a:xfrm>
            <a:off x="7963340" y="3389452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Unified ingestion, model orchestration, governance, observability, and developer access</a:t>
            </a:r>
          </a:p>
        </p:txBody>
      </p:sp>
      <p:sp>
        <p:nvSpPr>
          <p:cNvPr id="15" name="card-2-24"/>
          <p:cNvSpPr/>
          <p:nvPr/>
        </p:nvSpPr>
        <p:spPr>
          <a:xfrm>
            <a:off x="2570819" y="4519206"/>
            <a:ext cx="3307148" cy="1378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6" name="body-25"/>
          <p:cNvSpPr txBox="1"/>
          <p:nvPr/>
        </p:nvSpPr>
        <p:spPr>
          <a:xfrm>
            <a:off x="2697819" y="4646206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04 / Use cases</a:t>
            </a:r>
          </a:p>
        </p:txBody>
      </p:sp>
      <p:sp>
        <p:nvSpPr>
          <p:cNvPr id="17" name="detail-26"/>
          <p:cNvSpPr txBox="1"/>
          <p:nvPr/>
        </p:nvSpPr>
        <p:spPr>
          <a:xfrm>
            <a:off x="2697819" y="4971326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Specific workflows where seconds of response time translate into measurable savings or revenue</a:t>
            </a:r>
          </a:p>
        </p:txBody>
      </p:sp>
      <p:sp>
        <p:nvSpPr>
          <p:cNvPr id="18" name="card-2-27"/>
          <p:cNvSpPr/>
          <p:nvPr/>
        </p:nvSpPr>
        <p:spPr>
          <a:xfrm>
            <a:off x="6081166" y="4519206"/>
            <a:ext cx="3307148" cy="1378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9" name="body-28"/>
          <p:cNvSpPr txBox="1"/>
          <p:nvPr/>
        </p:nvSpPr>
        <p:spPr>
          <a:xfrm>
            <a:off x="6208166" y="4646206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05 / Launch milestones</a:t>
            </a:r>
          </a:p>
        </p:txBody>
      </p:sp>
      <p:sp>
        <p:nvSpPr>
          <p:cNvPr id="20" name="detail-29"/>
          <p:cNvSpPr txBox="1"/>
          <p:nvPr/>
        </p:nvSpPr>
        <p:spPr>
          <a:xfrm>
            <a:off x="6208166" y="4971326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A staged release plan that moves from lighthouse validation to scaled commercial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30"/>
          <p:cNvSpPr txBox="1"/>
          <p:nvPr/>
        </p:nvSpPr>
        <p:spPr>
          <a:xfrm>
            <a:off x="908304" y="367995"/>
            <a:ext cx="10085222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31"/>
          <p:cNvSpPr txBox="1"/>
          <p:nvPr/>
        </p:nvSpPr>
        <p:spPr>
          <a:xfrm>
            <a:off x="908304" y="647395"/>
            <a:ext cx="10085222" cy="51968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480" b="1">
                <a:solidFill>
                  <a:srgbClr val="020617"/>
                </a:solidFill>
                <a:latin typeface="Aptos"/>
              </a:rPr>
              <a:t>The launch case is built on four measurable advantages</a:t>
            </a:r>
          </a:p>
        </p:txBody>
      </p:sp>
      <p:sp>
        <p:nvSpPr>
          <p:cNvPr id="4" name="accent-3-32"/>
          <p:cNvSpPr/>
          <p:nvPr/>
        </p:nvSpPr>
        <p:spPr>
          <a:xfrm>
            <a:off x="908304" y="1294079"/>
            <a:ext cx="609600" cy="508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5" name="subtitle-33"/>
          <p:cNvSpPr txBox="1"/>
          <p:nvPr/>
        </p:nvSpPr>
        <p:spPr>
          <a:xfrm>
            <a:off x="908304" y="1471879"/>
            <a:ext cx="10085222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NexaEdge wins when customers need immediate action, strict control, and predictable economics at scale</a:t>
            </a:r>
          </a:p>
        </p:txBody>
      </p:sp>
      <p:sp>
        <p:nvSpPr>
          <p:cNvPr id="6" name="card-3-34"/>
          <p:cNvSpPr/>
          <p:nvPr/>
        </p:nvSpPr>
        <p:spPr>
          <a:xfrm>
            <a:off x="908304" y="2315159"/>
            <a:ext cx="3226274" cy="281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7" name="body-35"/>
          <p:cNvSpPr txBox="1"/>
          <p:nvPr/>
        </p:nvSpPr>
        <p:spPr>
          <a:xfrm>
            <a:off x="1136904" y="2543759"/>
            <a:ext cx="2769074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Operational fit</a:t>
            </a:r>
          </a:p>
        </p:txBody>
      </p:sp>
      <p:sp>
        <p:nvSpPr>
          <p:cNvPr id="8" name="detail-36"/>
          <p:cNvSpPr txBox="1"/>
          <p:nvPr/>
        </p:nvSpPr>
        <p:spPr>
          <a:xfrm>
            <a:off x="1136904" y="2975559"/>
            <a:ext cx="2769074" cy="1422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Designed for environments where data arrives continuously and actions cannot wait for a nightly pipeline</a:t>
            </a:r>
          </a:p>
        </p:txBody>
      </p:sp>
      <p:sp>
        <p:nvSpPr>
          <p:cNvPr id="9" name="card-3-37"/>
          <p:cNvSpPr/>
          <p:nvPr/>
        </p:nvSpPr>
        <p:spPr>
          <a:xfrm>
            <a:off x="4337778" y="2315159"/>
            <a:ext cx="3226274" cy="281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0" name="body-38"/>
          <p:cNvSpPr txBox="1"/>
          <p:nvPr/>
        </p:nvSpPr>
        <p:spPr>
          <a:xfrm>
            <a:off x="4566378" y="2543759"/>
            <a:ext cx="2769074" cy="711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Enterprise control</a:t>
            </a:r>
          </a:p>
        </p:txBody>
      </p:sp>
      <p:sp>
        <p:nvSpPr>
          <p:cNvPr id="11" name="detail-39"/>
          <p:cNvSpPr txBox="1"/>
          <p:nvPr/>
        </p:nvSpPr>
        <p:spPr>
          <a:xfrm>
            <a:off x="4566378" y="3331159"/>
            <a:ext cx="2769074" cy="1137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Policies, audit trails, and model approvals remain visible to security and compliance teams</a:t>
            </a:r>
          </a:p>
        </p:txBody>
      </p:sp>
      <p:sp>
        <p:nvSpPr>
          <p:cNvPr id="12" name="card-3-40"/>
          <p:cNvSpPr/>
          <p:nvPr/>
        </p:nvSpPr>
        <p:spPr>
          <a:xfrm>
            <a:off x="7767252" y="2315159"/>
            <a:ext cx="3226274" cy="281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3" name="body-41"/>
          <p:cNvSpPr txBox="1"/>
          <p:nvPr/>
        </p:nvSpPr>
        <p:spPr>
          <a:xfrm>
            <a:off x="7995852" y="2543759"/>
            <a:ext cx="2769074" cy="711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Commercial leverage</a:t>
            </a:r>
          </a:p>
        </p:txBody>
      </p:sp>
      <p:sp>
        <p:nvSpPr>
          <p:cNvPr id="14" name="detail-42"/>
          <p:cNvSpPr txBox="1"/>
          <p:nvPr/>
        </p:nvSpPr>
        <p:spPr>
          <a:xfrm>
            <a:off x="7995852" y="3331159"/>
            <a:ext cx="2769074" cy="1422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One platform supports multiple workflows, creating expansion paths after the first production deployment</a:t>
            </a:r>
          </a:p>
        </p:txBody>
      </p:sp>
      <p:sp>
        <p:nvSpPr>
          <p:cNvPr id="15" name="detail-43"/>
          <p:cNvSpPr txBox="1"/>
          <p:nvPr/>
        </p:nvSpPr>
        <p:spPr>
          <a:xfrm>
            <a:off x="908304" y="5974080"/>
            <a:ext cx="10085222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0">
                <a:solidFill>
                  <a:srgbClr val="667085"/>
                </a:solidFill>
                <a:latin typeface="Aptos"/>
              </a:rPr>
              <a:t>Illustrative launch assumptions based on target pilot benchmarks,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1"/>
          <p:cNvSpPr/>
          <p:nvPr/>
        </p:nvSpPr>
        <p:spPr>
          <a:xfrm>
            <a:off x="7071360" y="615163"/>
            <a:ext cx="3657600" cy="2438400"/>
          </a:xfrm>
          <a:prstGeom prst="rect">
            <a:avLst/>
          </a:prstGeom>
          <a:blipFill xmlns:r="http://schemas.openxmlformats.org/officeDocument/2006/relationships">
            <a:blip r:embed="rId2"/>
            <a:stretch/>
          </a:blipFill>
          <a:ln w="12700">
            <a:noFill/>
          </a:ln>
        </p:spPr>
      </p:sp>
      <p:sp>
        <p:nvSpPr>
          <p:cNvPr id="3" name="accent-4-45"/>
          <p:cNvSpPr/>
          <p:nvPr/>
        </p:nvSpPr>
        <p:spPr>
          <a:xfrm>
            <a:off x="6995160" y="1102843"/>
            <a:ext cx="76200" cy="146304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4" name="kicker-46"/>
          <p:cNvSpPr txBox="1"/>
          <p:nvPr/>
        </p:nvSpPr>
        <p:spPr>
          <a:xfrm>
            <a:off x="1037539" y="612140"/>
            <a:ext cx="5678221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5" name="title-47"/>
          <p:cNvSpPr txBox="1"/>
          <p:nvPr/>
        </p:nvSpPr>
        <p:spPr>
          <a:xfrm>
            <a:off x="1037539" y="891540"/>
            <a:ext cx="5678221" cy="991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560" b="1">
                <a:solidFill>
                  <a:srgbClr val="020617"/>
                </a:solidFill>
                <a:latin typeface="Aptos"/>
              </a:rPr>
              <a:t>Core innovation: intelligence follows the event</a:t>
            </a:r>
          </a:p>
        </p:txBody>
      </p:sp>
      <p:sp>
        <p:nvSpPr>
          <p:cNvPr id="6" name="accent-4-48"/>
          <p:cNvSpPr/>
          <p:nvPr/>
        </p:nvSpPr>
        <p:spPr>
          <a:xfrm>
            <a:off x="1037539" y="2010156"/>
            <a:ext cx="609600" cy="508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7" name="subtitle-49"/>
          <p:cNvSpPr txBox="1"/>
          <p:nvPr/>
        </p:nvSpPr>
        <p:spPr>
          <a:xfrm>
            <a:off x="1037539" y="2187956"/>
            <a:ext cx="5678221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Instead of sending every signal to a central system, NexaEdge routes computation to the point where action is most valuable</a:t>
            </a:r>
          </a:p>
        </p:txBody>
      </p:sp>
      <p:sp>
        <p:nvSpPr>
          <p:cNvPr id="8" name="card-4-50"/>
          <p:cNvSpPr/>
          <p:nvPr/>
        </p:nvSpPr>
        <p:spPr>
          <a:xfrm>
            <a:off x="1037539" y="3351276"/>
            <a:ext cx="2737510" cy="11717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9" name="body-51"/>
          <p:cNvSpPr txBox="1"/>
          <p:nvPr/>
        </p:nvSpPr>
        <p:spPr>
          <a:xfrm>
            <a:off x="1164539" y="3478276"/>
            <a:ext cx="248351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Event-native fabric</a:t>
            </a:r>
          </a:p>
        </p:txBody>
      </p:sp>
      <p:sp>
        <p:nvSpPr>
          <p:cNvPr id="10" name="detail-52"/>
          <p:cNvSpPr txBox="1"/>
          <p:nvPr/>
        </p:nvSpPr>
        <p:spPr>
          <a:xfrm>
            <a:off x="1164539" y="3803396"/>
            <a:ext cx="2483510" cy="782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Streams telemetry, transactions, and workflow events through one low-latency routing laye…</a:t>
            </a:r>
          </a:p>
        </p:txBody>
      </p:sp>
      <p:sp>
        <p:nvSpPr>
          <p:cNvPr id="11" name="card-4-53"/>
          <p:cNvSpPr/>
          <p:nvPr/>
        </p:nvSpPr>
        <p:spPr>
          <a:xfrm>
            <a:off x="3978250" y="3351276"/>
            <a:ext cx="2737510" cy="11717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2" name="body-54"/>
          <p:cNvSpPr txBox="1"/>
          <p:nvPr/>
        </p:nvSpPr>
        <p:spPr>
          <a:xfrm>
            <a:off x="4105250" y="3478276"/>
            <a:ext cx="248351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Distributed model mesh</a:t>
            </a:r>
          </a:p>
        </p:txBody>
      </p:sp>
      <p:sp>
        <p:nvSpPr>
          <p:cNvPr id="13" name="detail-55"/>
          <p:cNvSpPr txBox="1"/>
          <p:nvPr/>
        </p:nvSpPr>
        <p:spPr>
          <a:xfrm>
            <a:off x="4105250" y="3803396"/>
            <a:ext cx="2483510" cy="782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Runs the right model at the edge, in a private cloud, or centrally based on latency and sens…</a:t>
            </a:r>
          </a:p>
        </p:txBody>
      </p:sp>
      <p:sp>
        <p:nvSpPr>
          <p:cNvPr id="14" name="card-4-56"/>
          <p:cNvSpPr/>
          <p:nvPr/>
        </p:nvSpPr>
        <p:spPr>
          <a:xfrm>
            <a:off x="2507894" y="4726178"/>
            <a:ext cx="2737510" cy="11717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5" name="body-57"/>
          <p:cNvSpPr txBox="1"/>
          <p:nvPr/>
        </p:nvSpPr>
        <p:spPr>
          <a:xfrm>
            <a:off x="2634894" y="4853178"/>
            <a:ext cx="2483510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Policy-aware execution</a:t>
            </a:r>
          </a:p>
        </p:txBody>
      </p:sp>
      <p:sp>
        <p:nvSpPr>
          <p:cNvPr id="16" name="detail-58"/>
          <p:cNvSpPr txBox="1"/>
          <p:nvPr/>
        </p:nvSpPr>
        <p:spPr>
          <a:xfrm>
            <a:off x="2634894" y="5178298"/>
            <a:ext cx="2483510" cy="782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Enforces data residency, access, retention, and approval rules before any model produces a…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59"/>
          <p:cNvSpPr txBox="1"/>
          <p:nvPr/>
        </p:nvSpPr>
        <p:spPr>
          <a:xfrm>
            <a:off x="815645" y="755472"/>
            <a:ext cx="10327843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60"/>
          <p:cNvSpPr txBox="1"/>
          <p:nvPr/>
        </p:nvSpPr>
        <p:spPr>
          <a:xfrm>
            <a:off x="815645" y="1034872"/>
            <a:ext cx="10327843" cy="991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560" b="1">
                <a:solidFill>
                  <a:srgbClr val="020617"/>
                </a:solidFill>
                <a:latin typeface="Aptos"/>
              </a:rPr>
              <a:t>One control plane replaces five disconnected operating layers</a:t>
            </a:r>
          </a:p>
        </p:txBody>
      </p:sp>
      <p:sp>
        <p:nvSpPr>
          <p:cNvPr id="4" name="accent-5-61"/>
          <p:cNvSpPr/>
          <p:nvPr/>
        </p:nvSpPr>
        <p:spPr>
          <a:xfrm>
            <a:off x="815645" y="2153488"/>
            <a:ext cx="609600" cy="508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5" name="subtitle-62"/>
          <p:cNvSpPr txBox="1"/>
          <p:nvPr/>
        </p:nvSpPr>
        <p:spPr>
          <a:xfrm>
            <a:off x="815645" y="2331288"/>
            <a:ext cx="10327843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The product advantage is not another model; it is the coordination layer that makes existing data and models operationally usable</a:t>
            </a:r>
          </a:p>
        </p:txBody>
      </p:sp>
      <p:sp>
        <p:nvSpPr>
          <p:cNvPr id="6" name="card-5-63"/>
          <p:cNvSpPr/>
          <p:nvPr/>
        </p:nvSpPr>
        <p:spPr>
          <a:xfrm>
            <a:off x="815645" y="3174568"/>
            <a:ext cx="3307148" cy="1260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7" name="body-64"/>
          <p:cNvSpPr txBox="1"/>
          <p:nvPr/>
        </p:nvSpPr>
        <p:spPr>
          <a:xfrm>
            <a:off x="942645" y="3301568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Connect once</a:t>
            </a:r>
          </a:p>
        </p:txBody>
      </p:sp>
      <p:sp>
        <p:nvSpPr>
          <p:cNvPr id="8" name="detail-65"/>
          <p:cNvSpPr txBox="1"/>
          <p:nvPr/>
        </p:nvSpPr>
        <p:spPr>
          <a:xfrm>
            <a:off x="942645" y="3626688"/>
            <a:ext cx="3053148" cy="782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Ingest APIs, MQTT, Kafka, ERP events, and files through 100+ prebuilt connectors instead of custom point int…</a:t>
            </a:r>
          </a:p>
        </p:txBody>
      </p:sp>
      <p:sp>
        <p:nvSpPr>
          <p:cNvPr id="9" name="card-5-66"/>
          <p:cNvSpPr/>
          <p:nvPr/>
        </p:nvSpPr>
        <p:spPr>
          <a:xfrm>
            <a:off x="4325993" y="3174568"/>
            <a:ext cx="3307148" cy="1260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0" name="body-67"/>
          <p:cNvSpPr txBox="1"/>
          <p:nvPr/>
        </p:nvSpPr>
        <p:spPr>
          <a:xfrm>
            <a:off x="4452993" y="3301568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Decide centrally</a:t>
            </a:r>
          </a:p>
        </p:txBody>
      </p:sp>
      <p:sp>
        <p:nvSpPr>
          <p:cNvPr id="11" name="detail-68"/>
          <p:cNvSpPr txBox="1"/>
          <p:nvPr/>
        </p:nvSpPr>
        <p:spPr>
          <a:xfrm>
            <a:off x="4452993" y="3626688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Manage model routing, confidence thresholds, human approvals, and escalation rules from one policy console</a:t>
            </a:r>
          </a:p>
        </p:txBody>
      </p:sp>
      <p:sp>
        <p:nvSpPr>
          <p:cNvPr id="12" name="card-5-69"/>
          <p:cNvSpPr/>
          <p:nvPr/>
        </p:nvSpPr>
        <p:spPr>
          <a:xfrm>
            <a:off x="7836340" y="3174568"/>
            <a:ext cx="3307148" cy="1260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3" name="body-70"/>
          <p:cNvSpPr txBox="1"/>
          <p:nvPr/>
        </p:nvSpPr>
        <p:spPr>
          <a:xfrm>
            <a:off x="7963340" y="3301568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Prove continuously</a:t>
            </a:r>
          </a:p>
        </p:txBody>
      </p:sp>
      <p:sp>
        <p:nvSpPr>
          <p:cNvPr id="14" name="detail-71"/>
          <p:cNvSpPr txBox="1"/>
          <p:nvPr/>
        </p:nvSpPr>
        <p:spPr>
          <a:xfrm>
            <a:off x="7963340" y="3626688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Track latency, drift, cost, and business outcomes with end-to-end observability across every deployment mode</a:t>
            </a:r>
          </a:p>
        </p:txBody>
      </p:sp>
      <p:sp>
        <p:nvSpPr>
          <p:cNvPr id="15" name="card-5-72"/>
          <p:cNvSpPr/>
          <p:nvPr/>
        </p:nvSpPr>
        <p:spPr>
          <a:xfrm>
            <a:off x="2570819" y="4637824"/>
            <a:ext cx="3307148" cy="1260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6" name="body-73"/>
          <p:cNvSpPr txBox="1"/>
          <p:nvPr/>
        </p:nvSpPr>
        <p:spPr>
          <a:xfrm>
            <a:off x="2697819" y="4764824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Before</a:t>
            </a:r>
          </a:p>
        </p:txBody>
      </p:sp>
      <p:sp>
        <p:nvSpPr>
          <p:cNvPr id="17" name="detail-74"/>
          <p:cNvSpPr txBox="1"/>
          <p:nvPr/>
        </p:nvSpPr>
        <p:spPr>
          <a:xfrm>
            <a:off x="2697819" y="5089944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Batch pipelines, separate model endpoints, manual handoffs, and limited visibility into production behavior</a:t>
            </a:r>
          </a:p>
        </p:txBody>
      </p:sp>
      <p:sp>
        <p:nvSpPr>
          <p:cNvPr id="18" name="card-5-75"/>
          <p:cNvSpPr/>
          <p:nvPr/>
        </p:nvSpPr>
        <p:spPr>
          <a:xfrm>
            <a:off x="6081166" y="4637824"/>
            <a:ext cx="3307148" cy="12600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CBEC3"/>
            </a:solidFill>
          </a:ln>
        </p:spPr>
      </p:sp>
      <p:sp>
        <p:nvSpPr>
          <p:cNvPr id="19" name="body-76"/>
          <p:cNvSpPr txBox="1"/>
          <p:nvPr/>
        </p:nvSpPr>
        <p:spPr>
          <a:xfrm>
            <a:off x="6208166" y="4764824"/>
            <a:ext cx="3053148" cy="248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400" b="1">
                <a:solidFill>
                  <a:srgbClr val="020617"/>
                </a:solidFill>
                <a:latin typeface="Aptos"/>
              </a:rPr>
              <a:t>After</a:t>
            </a:r>
          </a:p>
        </p:txBody>
      </p:sp>
      <p:sp>
        <p:nvSpPr>
          <p:cNvPr id="20" name="detail-77"/>
          <p:cNvSpPr txBox="1"/>
          <p:nvPr/>
        </p:nvSpPr>
        <p:spPr>
          <a:xfrm>
            <a:off x="6208166" y="5089944"/>
            <a:ext cx="3053148" cy="5867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100" b="0">
                <a:solidFill>
                  <a:srgbClr val="667085"/>
                </a:solidFill>
                <a:latin typeface="Aptos"/>
              </a:rPr>
              <a:t>A single event-to-action path with automated routing and measurable service-level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78"/>
          <p:cNvSpPr txBox="1"/>
          <p:nvPr/>
        </p:nvSpPr>
        <p:spPr>
          <a:xfrm>
            <a:off x="815645" y="612140"/>
            <a:ext cx="10327843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79"/>
          <p:cNvSpPr txBox="1"/>
          <p:nvPr/>
        </p:nvSpPr>
        <p:spPr>
          <a:xfrm>
            <a:off x="815645" y="891540"/>
            <a:ext cx="10327843" cy="62865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3000" b="1">
                <a:solidFill>
                  <a:srgbClr val="020617"/>
                </a:solidFill>
                <a:latin typeface="Aptos"/>
              </a:rPr>
              <a:t>Four launch use cases make the value tangible</a:t>
            </a:r>
          </a:p>
        </p:txBody>
      </p:sp>
      <p:sp>
        <p:nvSpPr>
          <p:cNvPr id="4" name="accent-6-80"/>
          <p:cNvSpPr/>
          <p:nvPr/>
        </p:nvSpPr>
        <p:spPr>
          <a:xfrm>
            <a:off x="815645" y="1647190"/>
            <a:ext cx="609600" cy="50800"/>
          </a:xfrm>
          <a:prstGeom prst="rect">
            <a:avLst/>
          </a:prstGeom>
          <a:solidFill>
            <a:srgbClr val="2563EB"/>
          </a:solidFill>
          <a:ln w="12700">
            <a:noFill/>
          </a:ln>
        </p:spPr>
      </p:sp>
      <p:sp>
        <p:nvSpPr>
          <p:cNvPr id="5" name="subtitle-81"/>
          <p:cNvSpPr txBox="1"/>
          <p:nvPr/>
        </p:nvSpPr>
        <p:spPr>
          <a:xfrm>
            <a:off x="815645" y="1824990"/>
            <a:ext cx="10327843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The strongest entry point is a workflow with frequent events, costly delays, and a clear owner for the decision</a:t>
            </a:r>
          </a:p>
        </p:txBody>
      </p:sp>
      <p:sp>
        <p:nvSpPr>
          <p:cNvPr id="6" name="icon-82"/>
          <p:cNvSpPr txBox="1"/>
          <p:nvPr/>
        </p:nvSpPr>
        <p:spPr>
          <a:xfrm>
            <a:off x="815645" y="2874391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🏭</a:t>
            </a:r>
          </a:p>
        </p:txBody>
      </p:sp>
      <p:sp>
        <p:nvSpPr>
          <p:cNvPr id="7" name="body-83"/>
          <p:cNvSpPr txBox="1"/>
          <p:nvPr/>
        </p:nvSpPr>
        <p:spPr>
          <a:xfrm>
            <a:off x="815645" y="3407791"/>
            <a:ext cx="2170481" cy="5689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1">
                <a:solidFill>
                  <a:srgbClr val="020617"/>
                </a:solidFill>
                <a:latin typeface="Aptos"/>
              </a:rPr>
              <a:t>Predictive maintenance</a:t>
            </a:r>
          </a:p>
        </p:txBody>
      </p:sp>
      <p:sp>
        <p:nvSpPr>
          <p:cNvPr id="8" name="detail-84"/>
          <p:cNvSpPr txBox="1"/>
          <p:nvPr/>
        </p:nvSpPr>
        <p:spPr>
          <a:xfrm>
            <a:off x="815645" y="4052951"/>
            <a:ext cx="2170481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200" b="0">
                <a:solidFill>
                  <a:srgbClr val="667085"/>
                </a:solidFill>
                <a:latin typeface="Aptos"/>
              </a:rPr>
              <a:t>Combine vibration, temperature, and service data to flag failure risk up to 14 days earlier and reduce unplanned downtime by 18%</a:t>
            </a:r>
          </a:p>
        </p:txBody>
      </p:sp>
      <p:sp>
        <p:nvSpPr>
          <p:cNvPr id="9" name="icon-85"/>
          <p:cNvSpPr txBox="1"/>
          <p:nvPr/>
        </p:nvSpPr>
        <p:spPr>
          <a:xfrm>
            <a:off x="3534766" y="2874391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🚚</a:t>
            </a:r>
          </a:p>
        </p:txBody>
      </p:sp>
      <p:sp>
        <p:nvSpPr>
          <p:cNvPr id="10" name="body-86"/>
          <p:cNvSpPr txBox="1"/>
          <p:nvPr/>
        </p:nvSpPr>
        <p:spPr>
          <a:xfrm>
            <a:off x="3534766" y="3407791"/>
            <a:ext cx="2170481" cy="28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1">
                <a:solidFill>
                  <a:srgbClr val="020617"/>
                </a:solidFill>
                <a:latin typeface="Aptos"/>
              </a:rPr>
              <a:t>Dynamic logistics</a:t>
            </a:r>
          </a:p>
        </p:txBody>
      </p:sp>
      <p:sp>
        <p:nvSpPr>
          <p:cNvPr id="11" name="detail-87"/>
          <p:cNvSpPr txBox="1"/>
          <p:nvPr/>
        </p:nvSpPr>
        <p:spPr>
          <a:xfrm>
            <a:off x="3534766" y="3768471"/>
            <a:ext cx="2170481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200" b="0">
                <a:solidFill>
                  <a:srgbClr val="667085"/>
                </a:solidFill>
                <a:latin typeface="Aptos"/>
              </a:rPr>
              <a:t>Re-score routes every 30 seconds using traffic, weather, and capacity signals to improve on-time delivery by 9 percentage points</a:t>
            </a:r>
          </a:p>
        </p:txBody>
      </p:sp>
      <p:sp>
        <p:nvSpPr>
          <p:cNvPr id="12" name="icon-88"/>
          <p:cNvSpPr txBox="1"/>
          <p:nvPr/>
        </p:nvSpPr>
        <p:spPr>
          <a:xfrm>
            <a:off x="6253886" y="2874391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🛒</a:t>
            </a:r>
          </a:p>
        </p:txBody>
      </p:sp>
      <p:sp>
        <p:nvSpPr>
          <p:cNvPr id="13" name="body-89"/>
          <p:cNvSpPr txBox="1"/>
          <p:nvPr/>
        </p:nvSpPr>
        <p:spPr>
          <a:xfrm>
            <a:off x="6253886" y="3407791"/>
            <a:ext cx="2170481" cy="28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1">
                <a:solidFill>
                  <a:srgbClr val="020617"/>
                </a:solidFill>
                <a:latin typeface="Aptos"/>
              </a:rPr>
              <a:t>Retail operations</a:t>
            </a:r>
          </a:p>
        </p:txBody>
      </p:sp>
      <p:sp>
        <p:nvSpPr>
          <p:cNvPr id="14" name="detail-90"/>
          <p:cNvSpPr txBox="1"/>
          <p:nvPr/>
        </p:nvSpPr>
        <p:spPr>
          <a:xfrm>
            <a:off x="6253886" y="3768471"/>
            <a:ext cx="2170481" cy="1066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200" b="0">
                <a:solidFill>
                  <a:srgbClr val="667085"/>
                </a:solidFill>
                <a:latin typeface="Aptos"/>
              </a:rPr>
              <a:t>Detect stockout risk from POS and shelf signals, triggering replenishment recommendations within 2 minutes</a:t>
            </a:r>
          </a:p>
        </p:txBody>
      </p:sp>
      <p:sp>
        <p:nvSpPr>
          <p:cNvPr id="15" name="icon-91"/>
          <p:cNvSpPr txBox="1"/>
          <p:nvPr/>
        </p:nvSpPr>
        <p:spPr>
          <a:xfrm>
            <a:off x="8973007" y="2874391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💳</a:t>
            </a:r>
          </a:p>
        </p:txBody>
      </p:sp>
      <p:sp>
        <p:nvSpPr>
          <p:cNvPr id="16" name="body-92"/>
          <p:cNvSpPr txBox="1"/>
          <p:nvPr/>
        </p:nvSpPr>
        <p:spPr>
          <a:xfrm>
            <a:off x="8973007" y="3407791"/>
            <a:ext cx="2170481" cy="28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1">
                <a:solidFill>
                  <a:srgbClr val="020617"/>
                </a:solidFill>
                <a:latin typeface="Aptos"/>
              </a:rPr>
              <a:t>Fraud response</a:t>
            </a:r>
          </a:p>
        </p:txBody>
      </p:sp>
      <p:sp>
        <p:nvSpPr>
          <p:cNvPr id="17" name="detail-93"/>
          <p:cNvSpPr txBox="1"/>
          <p:nvPr/>
        </p:nvSpPr>
        <p:spPr>
          <a:xfrm>
            <a:off x="8973007" y="3768471"/>
            <a:ext cx="2170481" cy="12801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200" b="0">
                <a:solidFill>
                  <a:srgbClr val="667085"/>
                </a:solidFill>
                <a:latin typeface="Aptos"/>
              </a:rPr>
              <a:t>Evaluate transaction context locally and escalate suspicious activity in under 500 milliseconds without exporting raw customer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94"/>
          <p:cNvSpPr txBox="1"/>
          <p:nvPr/>
        </p:nvSpPr>
        <p:spPr>
          <a:xfrm>
            <a:off x="918058" y="538074"/>
            <a:ext cx="10130333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95"/>
          <p:cNvSpPr txBox="1"/>
          <p:nvPr/>
        </p:nvSpPr>
        <p:spPr>
          <a:xfrm>
            <a:off x="918058" y="817474"/>
            <a:ext cx="10130333" cy="991616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2560" b="1">
                <a:solidFill>
                  <a:srgbClr val="020617"/>
                </a:solidFill>
                <a:latin typeface="Aptos"/>
              </a:rPr>
              <a:t>Launch milestones de-risk adoption in three controlled waves</a:t>
            </a:r>
          </a:p>
        </p:txBody>
      </p:sp>
      <p:sp>
        <p:nvSpPr>
          <p:cNvPr id="4" name="divider-7-96"/>
          <p:cNvSpPr/>
          <p:nvPr/>
        </p:nvSpPr>
        <p:spPr>
          <a:xfrm>
            <a:off x="918058" y="1936090"/>
            <a:ext cx="10130333" cy="381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</p:sp>
      <p:sp>
        <p:nvSpPr>
          <p:cNvPr id="5" name="subtitle-97"/>
          <p:cNvSpPr txBox="1"/>
          <p:nvPr/>
        </p:nvSpPr>
        <p:spPr>
          <a:xfrm>
            <a:off x="918058" y="2113890"/>
            <a:ext cx="10130333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The release plan prioritizes proof of operational value before expanding the platform footprint</a:t>
            </a:r>
          </a:p>
        </p:txBody>
      </p:sp>
      <p:sp>
        <p:nvSpPr>
          <p:cNvPr id="6" name="rail-7-98"/>
          <p:cNvSpPr/>
          <p:nvPr/>
        </p:nvSpPr>
        <p:spPr>
          <a:xfrm>
            <a:off x="2547180" y="3414370"/>
            <a:ext cx="6872089" cy="38100"/>
          </a:xfrm>
          <a:prstGeom prst="rect">
            <a:avLst/>
          </a:prstGeom>
          <a:solidFill>
            <a:srgbClr val="BCBEC3"/>
          </a:solidFill>
          <a:ln w="12700">
            <a:noFill/>
          </a:ln>
        </p:spPr>
      </p:sp>
      <p:sp>
        <p:nvSpPr>
          <p:cNvPr id="7" name="node-7-99"/>
          <p:cNvSpPr/>
          <p:nvPr/>
        </p:nvSpPr>
        <p:spPr>
          <a:xfrm>
            <a:off x="2394780" y="3287370"/>
            <a:ext cx="304800" cy="3048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F172A"/>
            </a:solidFill>
          </a:ln>
        </p:spPr>
      </p:sp>
      <p:sp>
        <p:nvSpPr>
          <p:cNvPr id="8" name="marker-100"/>
          <p:cNvSpPr txBox="1"/>
          <p:nvPr/>
        </p:nvSpPr>
        <p:spPr>
          <a:xfrm>
            <a:off x="918058" y="3744570"/>
            <a:ext cx="3258244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9" name="body-101"/>
          <p:cNvSpPr txBox="1"/>
          <p:nvPr/>
        </p:nvSpPr>
        <p:spPr>
          <a:xfrm>
            <a:off x="918058" y="4074770"/>
            <a:ext cx="3258244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800" b="1">
                <a:solidFill>
                  <a:srgbClr val="020617"/>
                </a:solidFill>
                <a:latin typeface="Aptos"/>
              </a:rPr>
              <a:t>Wave 1 / Lighthouse pilots</a:t>
            </a:r>
          </a:p>
        </p:txBody>
      </p:sp>
      <p:sp>
        <p:nvSpPr>
          <p:cNvPr id="10" name="detail-102"/>
          <p:cNvSpPr txBox="1"/>
          <p:nvPr/>
        </p:nvSpPr>
        <p:spPr>
          <a:xfrm>
            <a:off x="918058" y="4791050"/>
            <a:ext cx="3258244" cy="110683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0">
                <a:solidFill>
                  <a:srgbClr val="667085"/>
                </a:solidFill>
                <a:latin typeface="Aptos"/>
              </a:rPr>
              <a:t>Q2 2026 · Product and solutions engineering own 6 pilots across manufacturing and logistics; acceptance requires &lt;2-second response time and one verified business KPI</a:t>
            </a:r>
          </a:p>
        </p:txBody>
      </p:sp>
      <p:sp>
        <p:nvSpPr>
          <p:cNvPr id="11" name="node-7-103"/>
          <p:cNvSpPr/>
          <p:nvPr/>
        </p:nvSpPr>
        <p:spPr>
          <a:xfrm>
            <a:off x="5830824" y="3287370"/>
            <a:ext cx="304800" cy="304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</p:sp>
      <p:sp>
        <p:nvSpPr>
          <p:cNvPr id="12" name="marker-104"/>
          <p:cNvSpPr txBox="1"/>
          <p:nvPr/>
        </p:nvSpPr>
        <p:spPr>
          <a:xfrm>
            <a:off x="4354102" y="3744570"/>
            <a:ext cx="3258244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3" name="body-105"/>
          <p:cNvSpPr txBox="1"/>
          <p:nvPr/>
        </p:nvSpPr>
        <p:spPr>
          <a:xfrm>
            <a:off x="4354102" y="4074770"/>
            <a:ext cx="3258244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800" b="1">
                <a:solidFill>
                  <a:srgbClr val="020617"/>
                </a:solidFill>
                <a:latin typeface="Aptos"/>
              </a:rPr>
              <a:t>Wave 2 / General availability</a:t>
            </a:r>
          </a:p>
        </p:txBody>
      </p:sp>
      <p:sp>
        <p:nvSpPr>
          <p:cNvPr id="14" name="detail-106"/>
          <p:cNvSpPr txBox="1"/>
          <p:nvPr/>
        </p:nvSpPr>
        <p:spPr>
          <a:xfrm>
            <a:off x="4354102" y="4791050"/>
            <a:ext cx="3258244" cy="110683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0">
                <a:solidFill>
                  <a:srgbClr val="667085"/>
                </a:solidFill>
                <a:latin typeface="Aptos"/>
              </a:rPr>
              <a:t>Q3 2026 · Security, support, and product marketing own release readiness; acceptance requires 99.9% platform availability, audit logging, and partner enablement</a:t>
            </a:r>
          </a:p>
        </p:txBody>
      </p:sp>
      <p:sp>
        <p:nvSpPr>
          <p:cNvPr id="15" name="node-7-107"/>
          <p:cNvSpPr/>
          <p:nvPr/>
        </p:nvSpPr>
        <p:spPr>
          <a:xfrm>
            <a:off x="9266868" y="3287370"/>
            <a:ext cx="304800" cy="304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</p:sp>
      <p:sp>
        <p:nvSpPr>
          <p:cNvPr id="16" name="marker-108"/>
          <p:cNvSpPr txBox="1"/>
          <p:nvPr/>
        </p:nvSpPr>
        <p:spPr>
          <a:xfrm>
            <a:off x="7790146" y="3744570"/>
            <a:ext cx="3258244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17" name="body-109"/>
          <p:cNvSpPr txBox="1"/>
          <p:nvPr/>
        </p:nvSpPr>
        <p:spPr>
          <a:xfrm>
            <a:off x="7790146" y="4074770"/>
            <a:ext cx="3258244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800" b="1">
                <a:solidFill>
                  <a:srgbClr val="020617"/>
                </a:solidFill>
                <a:latin typeface="Aptos"/>
              </a:rPr>
              <a:t>Wave 3 / Scale expansion</a:t>
            </a:r>
          </a:p>
        </p:txBody>
      </p:sp>
      <p:sp>
        <p:nvSpPr>
          <p:cNvPr id="18" name="detail-110"/>
          <p:cNvSpPr txBox="1"/>
          <p:nvPr/>
        </p:nvSpPr>
        <p:spPr>
          <a:xfrm>
            <a:off x="7790146" y="4471010"/>
            <a:ext cx="3258244" cy="142687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pPr algn="ctr"/>
            <a:r>
              <a:rPr lang="en-US" sz="1400" b="0">
                <a:solidFill>
                  <a:srgbClr val="667085"/>
                </a:solidFill>
                <a:latin typeface="Aptos"/>
              </a:rPr>
              <a:t>Q4 2026 · Sales and customer success own regional rollout; acceptance requires 25 production customers, 3 certified solution templates, and a repeatable 6-month payback 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11"/>
          <p:cNvSpPr txBox="1"/>
          <p:nvPr/>
        </p:nvSpPr>
        <p:spPr>
          <a:xfrm>
            <a:off x="815645" y="612140"/>
            <a:ext cx="10327843" cy="203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000" b="1">
                <a:solidFill>
                  <a:srgbClr val="667085"/>
                </a:solidFill>
                <a:latin typeface="Aptos"/>
              </a:rPr>
              <a:t>NexaEdge AI Fabric Product Launch</a:t>
            </a:r>
          </a:p>
        </p:txBody>
      </p:sp>
      <p:sp>
        <p:nvSpPr>
          <p:cNvPr id="3" name="title-112"/>
          <p:cNvSpPr txBox="1"/>
          <p:nvPr/>
        </p:nvSpPr>
        <p:spPr>
          <a:xfrm>
            <a:off x="815645" y="891540"/>
            <a:ext cx="10327843" cy="67056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3200" b="1">
                <a:solidFill>
                  <a:srgbClr val="020617"/>
                </a:solidFill>
                <a:latin typeface="Aptos"/>
              </a:rPr>
              <a:t>Decision ask: fund the lighthouse launch now</a:t>
            </a:r>
          </a:p>
        </p:txBody>
      </p:sp>
      <p:sp>
        <p:nvSpPr>
          <p:cNvPr id="4" name="divider-8-113"/>
          <p:cNvSpPr/>
          <p:nvPr/>
        </p:nvSpPr>
        <p:spPr>
          <a:xfrm>
            <a:off x="815645" y="1689100"/>
            <a:ext cx="1524000" cy="38100"/>
          </a:xfrm>
          <a:prstGeom prst="rect">
            <a:avLst/>
          </a:prstGeom>
          <a:solidFill>
            <a:srgbClr val="0F172A"/>
          </a:solidFill>
          <a:ln w="12700">
            <a:noFill/>
          </a:ln>
        </p:spPr>
      </p:sp>
      <p:sp>
        <p:nvSpPr>
          <p:cNvPr id="5" name="subtitle-114"/>
          <p:cNvSpPr txBox="1"/>
          <p:nvPr/>
        </p:nvSpPr>
        <p:spPr>
          <a:xfrm>
            <a:off x="815645" y="1866900"/>
            <a:ext cx="10327843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800" b="0">
                <a:solidFill>
                  <a:srgbClr val="0F172A"/>
                </a:solidFill>
                <a:latin typeface="Aptos"/>
              </a:rPr>
              <a:t>A focused launch can validate the platform category, create reference customers, and establish a repeatable path to expansion by Q4 2026</a:t>
            </a:r>
          </a:p>
        </p:txBody>
      </p:sp>
      <p:sp>
        <p:nvSpPr>
          <p:cNvPr id="6" name="icon-115"/>
          <p:cNvSpPr txBox="1"/>
          <p:nvPr/>
        </p:nvSpPr>
        <p:spPr>
          <a:xfrm>
            <a:off x="1333622" y="2710180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🎯</a:t>
            </a:r>
          </a:p>
        </p:txBody>
      </p:sp>
      <p:sp>
        <p:nvSpPr>
          <p:cNvPr id="7" name="body-116"/>
          <p:cNvSpPr txBox="1"/>
          <p:nvPr/>
        </p:nvSpPr>
        <p:spPr>
          <a:xfrm>
            <a:off x="1333622" y="3243580"/>
            <a:ext cx="2544592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Approve</a:t>
            </a:r>
          </a:p>
        </p:txBody>
      </p:sp>
      <p:sp>
        <p:nvSpPr>
          <p:cNvPr id="8" name="detail-117"/>
          <p:cNvSpPr txBox="1"/>
          <p:nvPr/>
        </p:nvSpPr>
        <p:spPr>
          <a:xfrm>
            <a:off x="1333622" y="3675380"/>
            <a:ext cx="2544592" cy="1422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Authorize a 6-pilot lighthouse program with a dedicated solutions engineering pod and a Q2 2026 start</a:t>
            </a:r>
          </a:p>
        </p:txBody>
      </p:sp>
      <p:sp>
        <p:nvSpPr>
          <p:cNvPr id="9" name="icon-118"/>
          <p:cNvSpPr txBox="1"/>
          <p:nvPr/>
        </p:nvSpPr>
        <p:spPr>
          <a:xfrm>
            <a:off x="4707270" y="2710180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🤝</a:t>
            </a:r>
          </a:p>
        </p:txBody>
      </p:sp>
      <p:sp>
        <p:nvSpPr>
          <p:cNvPr id="10" name="body-119"/>
          <p:cNvSpPr txBox="1"/>
          <p:nvPr/>
        </p:nvSpPr>
        <p:spPr>
          <a:xfrm>
            <a:off x="4707270" y="3243580"/>
            <a:ext cx="2544592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Align</a:t>
            </a:r>
          </a:p>
        </p:txBody>
      </p:sp>
      <p:sp>
        <p:nvSpPr>
          <p:cNvPr id="11" name="detail-120"/>
          <p:cNvSpPr txBox="1"/>
          <p:nvPr/>
        </p:nvSpPr>
        <p:spPr>
          <a:xfrm>
            <a:off x="4707270" y="3675380"/>
            <a:ext cx="2544592" cy="17068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Name one executive sponsor per pilot and lock the measurable success KPI before technical deployment begins</a:t>
            </a:r>
          </a:p>
        </p:txBody>
      </p:sp>
      <p:sp>
        <p:nvSpPr>
          <p:cNvPr id="12" name="icon-121"/>
          <p:cNvSpPr txBox="1"/>
          <p:nvPr/>
        </p:nvSpPr>
        <p:spPr>
          <a:xfrm>
            <a:off x="8080919" y="2710180"/>
            <a:ext cx="558800" cy="431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600" b="0">
                <a:solidFill>
                  <a:srgbClr val="020617"/>
                </a:solidFill>
                <a:latin typeface="Aptos"/>
              </a:rPr>
              <a:t>🚀</a:t>
            </a:r>
          </a:p>
        </p:txBody>
      </p:sp>
      <p:sp>
        <p:nvSpPr>
          <p:cNvPr id="13" name="body-122"/>
          <p:cNvSpPr txBox="1"/>
          <p:nvPr/>
        </p:nvSpPr>
        <p:spPr>
          <a:xfrm>
            <a:off x="8080919" y="3243580"/>
            <a:ext cx="2544592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2000" b="1">
                <a:solidFill>
                  <a:srgbClr val="020617"/>
                </a:solidFill>
                <a:latin typeface="Aptos"/>
              </a:rPr>
              <a:t>Scale</a:t>
            </a:r>
          </a:p>
        </p:txBody>
      </p:sp>
      <p:sp>
        <p:nvSpPr>
          <p:cNvPr id="14" name="detail-123"/>
          <p:cNvSpPr txBox="1"/>
          <p:nvPr/>
        </p:nvSpPr>
        <p:spPr>
          <a:xfrm>
            <a:off x="8080919" y="3675380"/>
            <a:ext cx="2544592" cy="170688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 anchorCtr="0"/>
          <a:p>
            <a:r>
              <a:rPr lang="en-US" sz="1600" b="0">
                <a:solidFill>
                  <a:srgbClr val="667085"/>
                </a:solidFill>
                <a:latin typeface="Aptos"/>
              </a:rPr>
              <a:t>Use validated templates and quantified outcomes to support general availability and 25 production customers by Q4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